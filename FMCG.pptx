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192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7070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82880"/>
            <a:ext cx="2377440" cy="2377440"/>
          </a:xfrm>
          <a:prstGeom prst="ellipse">
            <a:avLst/>
          </a:prstGeom>
          <a:solidFill>
            <a:srgbClr val="6C5CE7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927080" y="502920"/>
            <a:ext cx="1051560" cy="1051560"/>
          </a:xfrm>
          <a:prstGeom prst="ellipse">
            <a:avLst/>
          </a:prstGeom>
          <a:solidFill>
            <a:srgbClr val="6C5CE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104120" y="1508760"/>
            <a:ext cx="502920" cy="50292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0" y="4480560"/>
            <a:ext cx="2377440" cy="2377440"/>
          </a:xfrm>
          <a:prstGeom prst="ellipse">
            <a:avLst/>
          </a:prstGeom>
          <a:solidFill>
            <a:srgbClr val="6C5CE7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841480" y="5166360"/>
            <a:ext cx="1051560" cy="1051560"/>
          </a:xfrm>
          <a:prstGeom prst="ellipse">
            <a:avLst/>
          </a:prstGeom>
          <a:solidFill>
            <a:srgbClr val="6C5CE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6172200"/>
            <a:ext cx="502920" cy="50292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187452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FMCG Customer &amp; Sales</a:t>
            </a:r>
            <a:endParaRPr lang="en-US" sz="42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Using Python</a:t>
            </a:r>
            <a:endParaRPr lang="en-US" sz="4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617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6177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br>
              <a:rPr lang="en-US" sz="1500" b="1" dirty="0">
                <a:solidFill>
                  <a:srgbClr val="FFFFFF"/>
                </a:solidFill>
                <a:latin typeface="Berlin Sans FB Demi" panose="020E0802020502020306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500" b="1" dirty="0">
                <a:solidFill>
                  <a:srgbClr val="FFFFFF"/>
                </a:solidFill>
                <a:latin typeface="Berlin Sans FB Demi" panose="020E0802020502020306" pitchFamily="34" charset="0"/>
                <a:ea typeface="Calibri" pitchFamily="34" charset="-122"/>
                <a:cs typeface="Calibri" pitchFamily="34" charset="-120"/>
              </a:rPr>
              <a:t>Shrejal Mishra </a:t>
            </a:r>
            <a:br>
              <a:rPr lang="en-US" sz="1500" b="1" dirty="0">
                <a:solidFill>
                  <a:srgbClr val="FFFFFF"/>
                </a:solidFill>
                <a:latin typeface="Berlin Sans FB Demi" panose="020E0802020502020306" pitchFamily="34" charset="0"/>
                <a:ea typeface="Calibri" pitchFamily="34" charset="-122"/>
                <a:cs typeface="Calibri" pitchFamily="34" charset="-120"/>
              </a:rPr>
            </a:br>
            <a:endParaRPr lang="en-US" sz="1500" dirty="0">
              <a:latin typeface="Berlin Sans FB Demi" panose="020E0802020502020306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20040"/>
            <a:ext cx="420624" cy="420624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320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69848" y="265176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4160520" cy="1371600"/>
          </a:xfrm>
          <a:prstGeom prst="roundRect">
            <a:avLst>
              <a:gd name="adj" fmla="val 6000"/>
            </a:avLst>
          </a:prstGeom>
          <a:solidFill>
            <a:srgbClr val="181818"/>
          </a:solidFill>
          <a:ln w="12700">
            <a:solidFill>
              <a:srgbClr val="2B2B2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120700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C5C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2,240</a:t>
            </a:r>
            <a:r>
              <a:rPr lang="en-US" sz="1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rows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69164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C5C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r>
              <a:rPr lang="en-US" sz="1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columns  </a:t>
            </a:r>
            <a:r>
              <a:rPr lang="en-US" sz="1100" i="1" dirty="0">
                <a:solidFill>
                  <a:srgbClr val="7A7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(before Total_Spend)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606040"/>
            <a:ext cx="4160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dataset contains customer demographic information, income, product spending and purchasing behaviour. We will use Python to clean this data and identify useful patterns in customer spending.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794760"/>
            <a:ext cx="4160520" cy="2331720"/>
          </a:xfrm>
          <a:prstGeom prst="roundRect">
            <a:avLst>
              <a:gd name="adj" fmla="val 3137"/>
            </a:avLst>
          </a:prstGeom>
          <a:solidFill>
            <a:srgbClr val="000000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7512" y="3941064"/>
            <a:ext cx="160934" cy="160934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2" name="Shape 10"/>
          <p:cNvSpPr/>
          <p:nvPr/>
        </p:nvSpPr>
        <p:spPr>
          <a:xfrm>
            <a:off x="804306" y="3941064"/>
            <a:ext cx="160934" cy="160934"/>
          </a:xfrm>
          <a:prstGeom prst="ellipse">
            <a:avLst/>
          </a:prstGeom>
          <a:solidFill>
            <a:srgbClr val="9B8CFF"/>
          </a:solidFill>
          <a:ln/>
        </p:spPr>
      </p:sp>
      <p:sp>
        <p:nvSpPr>
          <p:cNvPr id="13" name="Shape 11"/>
          <p:cNvSpPr/>
          <p:nvPr/>
        </p:nvSpPr>
        <p:spPr>
          <a:xfrm>
            <a:off x="941100" y="3941064"/>
            <a:ext cx="160934" cy="160934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7512" y="4178808"/>
            <a:ext cx="38313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seaborn as sns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pd.read_csv('marketing_campaign.csv',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sep=';')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37760" y="1051560"/>
            <a:ext cx="3282696" cy="1691640"/>
          </a:xfrm>
          <a:prstGeom prst="roundRect">
            <a:avLst>
              <a:gd name="adj" fmla="val 4865"/>
            </a:avLst>
          </a:prstGeom>
          <a:solidFill>
            <a:srgbClr val="181818"/>
          </a:solidFill>
          <a:ln w="12700">
            <a:solidFill>
              <a:srgbClr val="2B2B2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138928" y="1252728"/>
            <a:ext cx="82296" cy="292608"/>
          </a:xfrm>
          <a:prstGeom prst="roundRect">
            <a:avLst>
              <a:gd name="adj" fmla="val 22222"/>
            </a:avLst>
          </a:prstGeom>
          <a:solidFill>
            <a:srgbClr val="6C5CE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321808" y="1216152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Information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138928" y="164592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Year of Birth, Education, Marital Status, Income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421624" y="1051560"/>
            <a:ext cx="3282696" cy="1691640"/>
          </a:xfrm>
          <a:prstGeom prst="roundRect">
            <a:avLst>
              <a:gd name="adj" fmla="val 4865"/>
            </a:avLst>
          </a:prstGeom>
          <a:solidFill>
            <a:srgbClr val="181818"/>
          </a:solidFill>
          <a:ln w="12700">
            <a:solidFill>
              <a:srgbClr val="2B2B2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22792" y="1252728"/>
            <a:ext cx="82296" cy="292608"/>
          </a:xfrm>
          <a:prstGeom prst="roundRect">
            <a:avLst>
              <a:gd name="adj" fmla="val 22222"/>
            </a:avLst>
          </a:prstGeom>
          <a:solidFill>
            <a:srgbClr val="6C5CE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805672" y="1216152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Household Information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622792" y="164592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Kidhome, Teenhome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937760" y="2944368"/>
            <a:ext cx="3282696" cy="1691640"/>
          </a:xfrm>
          <a:prstGeom prst="roundRect">
            <a:avLst>
              <a:gd name="adj" fmla="val 4865"/>
            </a:avLst>
          </a:prstGeom>
          <a:solidFill>
            <a:srgbClr val="181818"/>
          </a:solidFill>
          <a:ln w="12700">
            <a:solidFill>
              <a:srgbClr val="2B2B2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138928" y="3145536"/>
            <a:ext cx="82296" cy="292608"/>
          </a:xfrm>
          <a:prstGeom prst="roundRect">
            <a:avLst>
              <a:gd name="adj" fmla="val 22222"/>
            </a:avLst>
          </a:prstGeom>
          <a:solidFill>
            <a:srgbClr val="6C5CE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321808" y="3108960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Spending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138928" y="3538728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Wine, Fruits, Meat, Fish, Sweets, Gold Products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421624" y="2944368"/>
            <a:ext cx="3282696" cy="1691640"/>
          </a:xfrm>
          <a:prstGeom prst="roundRect">
            <a:avLst>
              <a:gd name="adj" fmla="val 4865"/>
            </a:avLst>
          </a:prstGeom>
          <a:solidFill>
            <a:srgbClr val="181818"/>
          </a:solidFill>
          <a:ln w="12700">
            <a:solidFill>
              <a:srgbClr val="2B2B2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622792" y="3145536"/>
            <a:ext cx="82296" cy="292608"/>
          </a:xfrm>
          <a:prstGeom prst="roundRect">
            <a:avLst>
              <a:gd name="adj" fmla="val 22222"/>
            </a:avLst>
          </a:prstGeom>
          <a:solidFill>
            <a:srgbClr val="6C5CE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805672" y="3108960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Purchase Behaviour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622792" y="3538728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Catalog &amp; Store Purchases, Deals, Web Visits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937760" y="4837176"/>
            <a:ext cx="6766560" cy="1691640"/>
          </a:xfrm>
          <a:prstGeom prst="roundRect">
            <a:avLst>
              <a:gd name="adj" fmla="val 4865"/>
            </a:avLst>
          </a:prstGeom>
          <a:solidFill>
            <a:srgbClr val="181818"/>
          </a:solidFill>
          <a:ln w="12700">
            <a:solidFill>
              <a:srgbClr val="2B2B2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138928" y="5038344"/>
            <a:ext cx="82296" cy="292608"/>
          </a:xfrm>
          <a:prstGeom prst="roundRect">
            <a:avLst>
              <a:gd name="adj" fmla="val 22222"/>
            </a:avLst>
          </a:prstGeom>
          <a:solidFill>
            <a:srgbClr val="6C5CE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321808" y="500176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Campaign Information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138928" y="5431536"/>
            <a:ext cx="63642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AcceptedCmp1–5, Response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20040"/>
            <a:ext cx="420624" cy="420624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320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69848" y="265176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Preparation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8412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cleaned the dataset before visualization so the analysis stays reliable.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5472684" cy="2331720"/>
          </a:xfrm>
          <a:prstGeom prst="roundRect">
            <a:avLst>
              <a:gd name="adj" fmla="val 3529"/>
            </a:avLst>
          </a:prstGeom>
          <a:solidFill>
            <a:srgbClr val="181818"/>
          </a:solidFill>
          <a:ln w="12700">
            <a:solidFill>
              <a:srgbClr val="2B2B2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4088" y="1508760"/>
            <a:ext cx="365760" cy="36576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04088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508760"/>
            <a:ext cx="4558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missing values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04088" y="1984248"/>
            <a:ext cx="5070348" cy="776478"/>
          </a:xfrm>
          <a:prstGeom prst="roundRect">
            <a:avLst>
              <a:gd name="adj" fmla="val 9421"/>
            </a:avLst>
          </a:prstGeom>
          <a:solidFill>
            <a:srgbClr val="000000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2130552"/>
            <a:ext cx="160934" cy="160934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5474" y="2130552"/>
            <a:ext cx="160934" cy="160934"/>
          </a:xfrm>
          <a:prstGeom prst="ellipse">
            <a:avLst/>
          </a:prstGeom>
          <a:solidFill>
            <a:srgbClr val="9B8C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142268" y="2130552"/>
            <a:ext cx="160934" cy="160934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2368296"/>
            <a:ext cx="4741164" cy="273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df.isna().sum()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04088" y="2907030"/>
            <a:ext cx="50703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missing values found in Income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31636" y="1325880"/>
            <a:ext cx="5472684" cy="2331720"/>
          </a:xfrm>
          <a:prstGeom prst="roundRect">
            <a:avLst>
              <a:gd name="adj" fmla="val 3529"/>
            </a:avLst>
          </a:prstGeom>
          <a:solidFill>
            <a:srgbClr val="181818"/>
          </a:solidFill>
          <a:ln w="12700">
            <a:solidFill>
              <a:srgbClr val="2B2B2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32804" y="1508760"/>
            <a:ext cx="365760" cy="36576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32804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917436" y="1508760"/>
            <a:ext cx="4558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missing income rows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432804" y="1984248"/>
            <a:ext cx="5070348" cy="1195578"/>
          </a:xfrm>
          <a:prstGeom prst="roundRect">
            <a:avLst>
              <a:gd name="adj" fmla="val 6119"/>
            </a:avLst>
          </a:prstGeom>
          <a:solidFill>
            <a:srgbClr val="000000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97396" y="2130552"/>
            <a:ext cx="160934" cy="160934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3" name="Shape 21"/>
          <p:cNvSpPr/>
          <p:nvPr/>
        </p:nvSpPr>
        <p:spPr>
          <a:xfrm>
            <a:off x="6734190" y="2130552"/>
            <a:ext cx="160934" cy="160934"/>
          </a:xfrm>
          <a:prstGeom prst="ellipse">
            <a:avLst/>
          </a:prstGeom>
          <a:solidFill>
            <a:srgbClr val="9B8CFF"/>
          </a:solidFill>
          <a:ln/>
        </p:spPr>
      </p:sp>
      <p:sp>
        <p:nvSpPr>
          <p:cNvPr id="24" name="Shape 22"/>
          <p:cNvSpPr/>
          <p:nvPr/>
        </p:nvSpPr>
        <p:spPr>
          <a:xfrm>
            <a:off x="6870984" y="2130552"/>
            <a:ext cx="160934" cy="160934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97396" y="2368296"/>
            <a:ext cx="4741164" cy="692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df.dropna(</a:t>
            </a: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subset=["Income"]</a:t>
            </a: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).reset_index(drop=True)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432804" y="3326130"/>
            <a:ext cx="50703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2,240 → 2,216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rows remain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02920" y="3913632"/>
            <a:ext cx="5472684" cy="2331720"/>
          </a:xfrm>
          <a:prstGeom prst="roundRect">
            <a:avLst>
              <a:gd name="adj" fmla="val 3529"/>
            </a:avLst>
          </a:prstGeom>
          <a:solidFill>
            <a:srgbClr val="181818"/>
          </a:solidFill>
          <a:ln w="12700">
            <a:solidFill>
              <a:srgbClr val="2B2B2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04088" y="4096512"/>
            <a:ext cx="365760" cy="36576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04088" y="4096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188720" y="4096512"/>
            <a:ext cx="4558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income outlier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704088" y="4572000"/>
            <a:ext cx="5070348" cy="986028"/>
          </a:xfrm>
          <a:prstGeom prst="roundRect">
            <a:avLst>
              <a:gd name="adj" fmla="val 7419"/>
            </a:avLst>
          </a:prstGeom>
          <a:solidFill>
            <a:srgbClr val="000000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68680" y="4718304"/>
            <a:ext cx="160934" cy="160934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33" name="Shape 31"/>
          <p:cNvSpPr/>
          <p:nvPr/>
        </p:nvSpPr>
        <p:spPr>
          <a:xfrm>
            <a:off x="1005474" y="4718304"/>
            <a:ext cx="160934" cy="160934"/>
          </a:xfrm>
          <a:prstGeom prst="ellipse">
            <a:avLst/>
          </a:prstGeom>
          <a:solidFill>
            <a:srgbClr val="9B8CFF"/>
          </a:solidFill>
          <a:ln/>
        </p:spPr>
      </p:sp>
      <p:sp>
        <p:nvSpPr>
          <p:cNvPr id="34" name="Shape 32"/>
          <p:cNvSpPr/>
          <p:nvPr/>
        </p:nvSpPr>
        <p:spPr>
          <a:xfrm>
            <a:off x="1142268" y="4718304"/>
            <a:ext cx="160934" cy="160934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68680" y="4956048"/>
            <a:ext cx="4741164" cy="483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(df[df["Income"] &lt; 200000]</a:t>
            </a: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.reset_index(drop=True))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704088" y="5704332"/>
            <a:ext cx="50703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666,666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income value dropped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231636" y="3913632"/>
            <a:ext cx="5472684" cy="2331720"/>
          </a:xfrm>
          <a:prstGeom prst="roundRect">
            <a:avLst>
              <a:gd name="adj" fmla="val 3529"/>
            </a:avLst>
          </a:prstGeom>
          <a:solidFill>
            <a:srgbClr val="181818"/>
          </a:solidFill>
          <a:ln w="12700">
            <a:solidFill>
              <a:srgbClr val="2B2B2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432804" y="4096512"/>
            <a:ext cx="365760" cy="36576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432804" y="4096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917436" y="4096512"/>
            <a:ext cx="4558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junk marital-status</a:t>
            </a:r>
            <a:endParaRPr lang="en-US" sz="1450" dirty="0"/>
          </a:p>
        </p:txBody>
      </p:sp>
      <p:sp>
        <p:nvSpPr>
          <p:cNvPr id="41" name="Shape 39"/>
          <p:cNvSpPr/>
          <p:nvPr/>
        </p:nvSpPr>
        <p:spPr>
          <a:xfrm>
            <a:off x="6432804" y="4572000"/>
            <a:ext cx="5070348" cy="1195578"/>
          </a:xfrm>
          <a:prstGeom prst="roundRect">
            <a:avLst>
              <a:gd name="adj" fmla="val 6119"/>
            </a:avLst>
          </a:prstGeom>
          <a:solidFill>
            <a:srgbClr val="000000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597396" y="4718304"/>
            <a:ext cx="160934" cy="160934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43" name="Shape 41"/>
          <p:cNvSpPr/>
          <p:nvPr/>
        </p:nvSpPr>
        <p:spPr>
          <a:xfrm>
            <a:off x="6734190" y="4718304"/>
            <a:ext cx="160934" cy="160934"/>
          </a:xfrm>
          <a:prstGeom prst="ellipse">
            <a:avLst/>
          </a:prstGeom>
          <a:solidFill>
            <a:srgbClr val="9B8CFF"/>
          </a:solidFill>
          <a:ln/>
        </p:spPr>
      </p:sp>
      <p:sp>
        <p:nvSpPr>
          <p:cNvPr id="44" name="Shape 42"/>
          <p:cNvSpPr/>
          <p:nvPr/>
        </p:nvSpPr>
        <p:spPr>
          <a:xfrm>
            <a:off x="6870984" y="4718304"/>
            <a:ext cx="160934" cy="160934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597396" y="4956048"/>
            <a:ext cx="4741164" cy="692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junk = ["Alone","Absurd","YOLO"]</a:t>
            </a: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df[~df["Marital_Status"]</a:t>
            </a: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.isin(junk)].reset_index(drop=True)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6432804" y="5913882"/>
            <a:ext cx="50703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junk rows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removed (Alone/Absurd/YOLO)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20040"/>
            <a:ext cx="420624" cy="420624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320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69848" y="265176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Spend &amp; Graph 1 — Spending by Category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887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Which product category brings in the most revenue?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4434840" cy="3102920"/>
          </a:xfrm>
          <a:prstGeom prst="roundRect">
            <a:avLst>
              <a:gd name="adj" fmla="val 3376"/>
            </a:avLst>
          </a:prstGeom>
          <a:solidFill>
            <a:srgbClr val="000000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67512" y="1700784"/>
            <a:ext cx="160934" cy="160934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9" name="Shape 7"/>
          <p:cNvSpPr/>
          <p:nvPr/>
        </p:nvSpPr>
        <p:spPr>
          <a:xfrm>
            <a:off x="804306" y="1700784"/>
            <a:ext cx="160934" cy="160934"/>
          </a:xfrm>
          <a:prstGeom prst="ellipse">
            <a:avLst/>
          </a:prstGeom>
          <a:solidFill>
            <a:srgbClr val="9B8CFF"/>
          </a:solidFill>
          <a:ln/>
        </p:spPr>
      </p:sp>
      <p:sp>
        <p:nvSpPr>
          <p:cNvPr id="10" name="Shape 8"/>
          <p:cNvSpPr/>
          <p:nvPr/>
        </p:nvSpPr>
        <p:spPr>
          <a:xfrm>
            <a:off x="941100" y="1700784"/>
            <a:ext cx="160934" cy="160934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7512" y="1938528"/>
            <a:ext cx="4105656" cy="2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df["Total_Spend"] = (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df["MntWines"] + df["MntFruits"] +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df["MntMeatProducts"] + df["MntFishProducts"] +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df["MntSweetProducts"] + df["MntGoldProds"])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category_spend = {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"Wine": df["MntWines"].sum(),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"Fruits": df["MntFruits"].sum(),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"Meat": df["MntMeatProducts"].sum(),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"Fish": df["MntFishProducts"].sum(),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"Sweets": df["MntSweetProducts"].sum(),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"Gold": df["MntGoldProds"].sum()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categories = list(category_spend.keys())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totals = list(category_spend.values())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plt.figure(figsize=(8, 5))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plt.bar(categories, totals, color=["#7B2CBF", "#43AA8B",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"#F94144", "#577590", "#F9C74F", "#F3722C"])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plt.xlabel("Product Category")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plt.ylabel("Total Amount Spent")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plt.title("Total Customer Spending by Product Category")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02920" y="4777400"/>
            <a:ext cx="4434840" cy="850000"/>
          </a:xfrm>
          <a:prstGeom prst="roundRect">
            <a:avLst>
              <a:gd name="adj" fmla="val 6923"/>
            </a:avLst>
          </a:prstGeom>
          <a:solidFill>
            <a:srgbClr val="181818"/>
          </a:solidFill>
          <a:ln w="12700">
            <a:solidFill>
              <a:srgbClr val="2B2B2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04088" y="4923704"/>
            <a:ext cx="4032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04088" y="5198024"/>
            <a:ext cx="4032504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leads with 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50.3%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total spend; </a:t>
            </a:r>
            <a:r>
              <a:rPr lang="en-US" sz="115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Meat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follows at 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27.5%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Fruits, Fish, Sweets and Gold are far smaller shares.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5747400"/>
            <a:ext cx="4434840" cy="740000"/>
          </a:xfrm>
          <a:prstGeom prst="roundRect">
            <a:avLst>
              <a:gd name="adj" fmla="val 9474"/>
            </a:avLst>
          </a:prstGeom>
          <a:solidFill>
            <a:srgbClr val="181818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4088" y="5875416"/>
            <a:ext cx="4032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IMPLICATION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" y="6113160"/>
            <a:ext cx="4032504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Wine and Meat in inventory, promotions and marketing campaigns — together they drive ~78% of revenue.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66360" y="1051560"/>
            <a:ext cx="6537960" cy="507492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2B2B2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9" name="Image 0" descr="chart1_ba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94960" y="1280160"/>
            <a:ext cx="6080760" cy="461772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Presenter Tag"/>
          <p:cNvSpPr/>
          <p:nvPr/>
        </p:nvSpPr>
        <p:spPr>
          <a:xfrm>
            <a:off x="9171048" y="380000"/>
            <a:ext cx="25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b="1" kern="0" spc="100" dirty="0">
              <a:solidFill>
                <a:srgbClr val="7A7A7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B0B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02920" y="320040"/>
            <a:ext cx="420624" cy="420624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320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69848" y="265176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2 — Customer Distribution by Marital Status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887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Who makes up the core customer base?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4434840" cy="2167128"/>
          </a:xfrm>
          <a:prstGeom prst="roundRect">
            <a:avLst>
              <a:gd name="adj" fmla="val 3376"/>
            </a:avLst>
          </a:prstGeom>
          <a:solidFill>
            <a:srgbClr val="000000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67512" y="1700784"/>
            <a:ext cx="160934" cy="160934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9" name="Shape 7"/>
          <p:cNvSpPr/>
          <p:nvPr/>
        </p:nvSpPr>
        <p:spPr>
          <a:xfrm>
            <a:off x="804306" y="1700784"/>
            <a:ext cx="160934" cy="160934"/>
          </a:xfrm>
          <a:prstGeom prst="ellipse">
            <a:avLst/>
          </a:prstGeom>
          <a:solidFill>
            <a:srgbClr val="9B8CFF"/>
          </a:solidFill>
          <a:ln/>
        </p:spPr>
      </p:sp>
      <p:sp>
        <p:nvSpPr>
          <p:cNvPr id="10" name="Shape 8"/>
          <p:cNvSpPr/>
          <p:nvPr/>
        </p:nvSpPr>
        <p:spPr>
          <a:xfrm>
            <a:off x="941100" y="1700784"/>
            <a:ext cx="160934" cy="160934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7512" y="1938528"/>
            <a:ext cx="419709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status_counts = (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df["Marital_Status"].value_counts())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plt.figure(figsize=(7, 7))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plt.pie(status_counts, labels=status_counts.index,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autopct="%1.1f%%", startangle=90,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colors=["#4C956C", "#F9DC5C", "#EF6461",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"#5C6784", "#96C5F7"])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plt.title("Customer Distribution by Marital Status")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3886200"/>
            <a:ext cx="4434840" cy="1325880"/>
          </a:xfrm>
          <a:prstGeom prst="roundRect">
            <a:avLst>
              <a:gd name="adj" fmla="val 6207"/>
            </a:avLst>
          </a:prstGeom>
          <a:solidFill>
            <a:srgbClr val="181818"/>
          </a:solidFill>
          <a:ln w="12700">
            <a:solidFill>
              <a:srgbClr val="2B2B2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04088" y="4032504"/>
            <a:ext cx="4032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04088" y="4306824"/>
            <a:ext cx="4032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Married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(38.8%) and </a:t>
            </a:r>
            <a:r>
              <a:rPr lang="en-US" sz="115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(25.9%) make up almost two-thirds of customers. 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adds 21.3%, while Divorced and Widow are smaller groups.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5376672"/>
            <a:ext cx="4434840" cy="868680"/>
          </a:xfrm>
          <a:prstGeom prst="roundRect">
            <a:avLst>
              <a:gd name="adj" fmla="val 9474"/>
            </a:avLst>
          </a:prstGeom>
          <a:solidFill>
            <a:srgbClr val="181818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4088" y="5504688"/>
            <a:ext cx="4032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IMPLICATION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" y="5742432"/>
            <a:ext cx="4032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in relationships/families dominate the base — design family-oriented offers and household-focused promotions.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66360" y="1051560"/>
            <a:ext cx="6537960" cy="507492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2B2B2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9" name="Image 0" descr="chart2_pi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94960" y="1280160"/>
            <a:ext cx="6080760" cy="461772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2" name="Presenter Tag"/>
          <p:cNvSpPr/>
          <p:nvPr/>
        </p:nvSpPr>
        <p:spPr>
          <a:xfrm>
            <a:off x="9171048" y="380000"/>
            <a:ext cx="25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b="1" kern="0" spc="100" dirty="0">
              <a:solidFill>
                <a:srgbClr val="7A7A7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20040"/>
            <a:ext cx="420624" cy="420624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320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69848" y="265176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3 — Income vs Total Spending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887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Does income actually affect customer spending?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4434840" cy="1832920"/>
          </a:xfrm>
          <a:prstGeom prst="roundRect">
            <a:avLst>
              <a:gd name="adj" fmla="val 4140"/>
            </a:avLst>
          </a:prstGeom>
          <a:solidFill>
            <a:srgbClr val="000000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67512" y="1700784"/>
            <a:ext cx="160934" cy="160934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9" name="Shape 7"/>
          <p:cNvSpPr/>
          <p:nvPr/>
        </p:nvSpPr>
        <p:spPr>
          <a:xfrm>
            <a:off x="804306" y="1700784"/>
            <a:ext cx="160934" cy="160934"/>
          </a:xfrm>
          <a:prstGeom prst="ellipse">
            <a:avLst/>
          </a:prstGeom>
          <a:solidFill>
            <a:srgbClr val="9B8CFF"/>
          </a:solidFill>
          <a:ln/>
        </p:spPr>
      </p:sp>
      <p:sp>
        <p:nvSpPr>
          <p:cNvPr id="10" name="Shape 8"/>
          <p:cNvSpPr/>
          <p:nvPr/>
        </p:nvSpPr>
        <p:spPr>
          <a:xfrm>
            <a:off x="941100" y="1700784"/>
            <a:ext cx="160934" cy="160934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7512" y="1938528"/>
            <a:ext cx="4197096" cy="13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plt.figure(figsize=(8, 6))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plt.scatter(df["Income"],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df["Total_Spend"], alpha=0.5,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color="#E76F51")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plt.xlabel("Income")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plt.ylabel("Total Spend")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plt.title("Income vs Total Spending")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3551992"/>
            <a:ext cx="4434840" cy="1600200"/>
          </a:xfrm>
          <a:prstGeom prst="roundRect">
            <a:avLst>
              <a:gd name="adj" fmla="val 5143"/>
            </a:avLst>
          </a:prstGeom>
          <a:solidFill>
            <a:srgbClr val="181818"/>
          </a:solidFill>
          <a:ln w="12700">
            <a:solidFill>
              <a:srgbClr val="2B2B2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04088" y="3698296"/>
            <a:ext cx="4032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04088" y="3972616"/>
            <a:ext cx="40325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positive relationship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as income rises, spending rises. Lower-income customers (below ~30,000) mostly spend under 200 in total; higher-income customers (above ~60,000) show a much wider, higher spread, some crossing 2000.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5316784"/>
            <a:ext cx="4434840" cy="914400"/>
          </a:xfrm>
          <a:prstGeom prst="roundRect">
            <a:avLst>
              <a:gd name="adj" fmla="val 9000"/>
            </a:avLst>
          </a:prstGeom>
          <a:solidFill>
            <a:srgbClr val="181818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4088" y="5444800"/>
            <a:ext cx="4032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IMPLICATION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" y="5682544"/>
            <a:ext cx="4032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higher-income customers with premium products; offer value packs and discounts to lower-income segments.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66360" y="1051560"/>
            <a:ext cx="6537960" cy="507492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2B2B2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9" name="Image 0" descr="chart3_scatt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94960" y="1280160"/>
            <a:ext cx="6080760" cy="461772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2" name="Presenter Tag"/>
          <p:cNvSpPr/>
          <p:nvPr/>
        </p:nvSpPr>
        <p:spPr>
          <a:xfrm>
            <a:off x="9171048" y="380000"/>
            <a:ext cx="25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endParaRPr lang="en-US" sz="1000" b="1" kern="0" spc="100" dirty="0">
              <a:solidFill>
                <a:srgbClr val="7A7A7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20040"/>
            <a:ext cx="420624" cy="420624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320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69848" y="265176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Bringing the Findings Together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84124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at spending, customer profile and income side by side (not one at a time) surfaces three patterns the individual graphs do not show alone.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3550920" cy="3931920"/>
          </a:xfrm>
          <a:prstGeom prst="roundRect">
            <a:avLst>
              <a:gd name="adj" fmla="val 2318"/>
            </a:avLst>
          </a:prstGeom>
          <a:solidFill>
            <a:srgbClr val="181818"/>
          </a:solidFill>
          <a:ln w="12700">
            <a:solidFill>
              <a:srgbClr val="2B2B2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58952" y="1673352"/>
            <a:ext cx="475488" cy="475488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58952" y="16733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2286000"/>
            <a:ext cx="3038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Highest-Value Customers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758952" y="2834640"/>
            <a:ext cx="3038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58952" y="3044952"/>
            <a:ext cx="3038856" cy="365760"/>
          </a:xfrm>
          <a:prstGeom prst="roundRect">
            <a:avLst>
              <a:gd name="adj" fmla="val 15000"/>
            </a:avLst>
          </a:prstGeom>
          <a:solidFill>
            <a:srgbClr val="18181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3044952"/>
            <a:ext cx="281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C5C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Married/Together + income above ~60,000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58952" y="3520440"/>
            <a:ext cx="3038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FROM THE DATA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58952" y="3721608"/>
            <a:ext cx="3038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of customers are Married or Together; total spend rises sharply once income passes ~60,000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58952" y="4663440"/>
            <a:ext cx="3038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i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group should be the focus of premium bundles and loyalty offers.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28160" y="1417320"/>
            <a:ext cx="3550920" cy="3931920"/>
          </a:xfrm>
          <a:prstGeom prst="roundRect">
            <a:avLst>
              <a:gd name="adj" fmla="val 2318"/>
            </a:avLst>
          </a:prstGeom>
          <a:solidFill>
            <a:srgbClr val="181818"/>
          </a:solidFill>
          <a:ln w="12700">
            <a:solidFill>
              <a:srgbClr val="2B2B2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84192" y="1673352"/>
            <a:ext cx="475488" cy="475488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84192" y="16733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4584192" y="2286000"/>
            <a:ext cx="3038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Categories Carry the Business</a:t>
            </a:r>
            <a:endParaRPr lang="en-US" sz="1650" dirty="0"/>
          </a:p>
        </p:txBody>
      </p:sp>
      <p:sp>
        <p:nvSpPr>
          <p:cNvPr id="21" name="Text 19"/>
          <p:cNvSpPr txBox="1"/>
          <p:nvPr/>
        </p:nvSpPr>
        <p:spPr>
          <a:xfrm>
            <a:off x="4584192" y="2834640"/>
            <a:ext cx="3038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84192" y="3044952"/>
            <a:ext cx="3038856" cy="365760"/>
          </a:xfrm>
          <a:prstGeom prst="roundRect">
            <a:avLst>
              <a:gd name="adj" fmla="val 15000"/>
            </a:avLst>
          </a:prstGeom>
          <a:solidFill>
            <a:srgbClr val="18181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93920" y="3044952"/>
            <a:ext cx="281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C5C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Wine + Meat = ~78% of all revenue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84192" y="3520440"/>
            <a:ext cx="3038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FROM THE DATA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4584192" y="3721608"/>
            <a:ext cx="3038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₹674K and Meat ₹369K vs. Fruits, Fish, Sweets and Gold combined at ₹298K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584192" y="4663440"/>
            <a:ext cx="3038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i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Stock, shelf space and campaign budget should be weighted toward these two categories first.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153400" y="1417320"/>
            <a:ext cx="3550920" cy="3931920"/>
          </a:xfrm>
          <a:prstGeom prst="roundRect">
            <a:avLst>
              <a:gd name="adj" fmla="val 2318"/>
            </a:avLst>
          </a:prstGeom>
          <a:solidFill>
            <a:srgbClr val="181818"/>
          </a:solidFill>
          <a:ln w="12700">
            <a:solidFill>
              <a:srgbClr val="2B2B2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409432" y="1673352"/>
            <a:ext cx="475488" cy="475488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409432" y="16733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8409432" y="2286000"/>
            <a:ext cx="3038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Large, Under-Served Budget Segment</a:t>
            </a:r>
            <a:endParaRPr lang="en-US" sz="1650" dirty="0"/>
          </a:p>
        </p:txBody>
      </p:sp>
      <p:sp>
        <p:nvSpPr>
          <p:cNvPr id="31" name="Text 29"/>
          <p:cNvSpPr txBox="1"/>
          <p:nvPr/>
        </p:nvSpPr>
        <p:spPr>
          <a:xfrm>
            <a:off x="8409432" y="2834640"/>
            <a:ext cx="3038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409432" y="3044952"/>
            <a:ext cx="3038856" cy="365760"/>
          </a:xfrm>
          <a:prstGeom prst="roundRect">
            <a:avLst>
              <a:gd name="adj" fmla="val 15000"/>
            </a:avLst>
          </a:prstGeom>
          <a:solidFill>
            <a:srgbClr val="18181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519160" y="3044952"/>
            <a:ext cx="281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C5C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Income below ~30,000 → total spend mostly under 200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8409432" y="3520440"/>
            <a:ext cx="3038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FROM THE DATA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8409432" y="3721608"/>
            <a:ext cx="3038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low-spend cluster is large and cuts across every marital-status group, not just one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8409432" y="4663440"/>
            <a:ext cx="3038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i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Discount-led combo packs are more likely to unlock spend here than premium offers.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02920" y="5577840"/>
            <a:ext cx="11201400" cy="502920"/>
          </a:xfrm>
          <a:prstGeom prst="roundRect">
            <a:avLst>
              <a:gd name="adj" fmla="val 16364"/>
            </a:avLst>
          </a:prstGeom>
          <a:solidFill>
            <a:srgbClr val="181818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77240" y="5577840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three patterns say the same thing: income and household type — more than product category alone — should drive how offers are targeted and priced.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365760"/>
            <a:ext cx="2377440" cy="2377440"/>
          </a:xfrm>
          <a:prstGeom prst="ellipse">
            <a:avLst/>
          </a:prstGeom>
          <a:solidFill>
            <a:srgbClr val="6C5CE7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384280" y="320040"/>
            <a:ext cx="1051560" cy="1051560"/>
          </a:xfrm>
          <a:prstGeom prst="ellipse">
            <a:avLst/>
          </a:prstGeom>
          <a:solidFill>
            <a:srgbClr val="6C5CE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1325880"/>
            <a:ext cx="502920" cy="50292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8229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&amp; Business Recommendations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77240" y="1691640"/>
            <a:ext cx="10607040" cy="868680"/>
          </a:xfrm>
          <a:prstGeom prst="roundRect">
            <a:avLst>
              <a:gd name="adj" fmla="val 8421"/>
            </a:avLst>
          </a:prstGeom>
          <a:solidFill>
            <a:srgbClr val="181818">
              <a:alpha val="8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1952244"/>
            <a:ext cx="347472" cy="347472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19522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1801368"/>
            <a:ext cx="2743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Spending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801368"/>
            <a:ext cx="67665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and Meat are the strongest spending categories (~78% of total).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2724912"/>
            <a:ext cx="10607040" cy="868680"/>
          </a:xfrm>
          <a:prstGeom prst="roundRect">
            <a:avLst>
              <a:gd name="adj" fmla="val 8421"/>
            </a:avLst>
          </a:prstGeom>
          <a:solidFill>
            <a:srgbClr val="181818">
              <a:alpha val="8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2985516"/>
            <a:ext cx="347472" cy="347472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05840" y="29855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2834640"/>
            <a:ext cx="2743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Profile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4389120" y="2834640"/>
            <a:ext cx="67665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Married and Together customers form ~65% of the customer base.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77240" y="3758184"/>
            <a:ext cx="10607040" cy="868680"/>
          </a:xfrm>
          <a:prstGeom prst="roundRect">
            <a:avLst>
              <a:gd name="adj" fmla="val 8421"/>
            </a:avLst>
          </a:prstGeom>
          <a:solidFill>
            <a:srgbClr val="181818">
              <a:alpha val="8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" y="4018788"/>
            <a:ext cx="347472" cy="347472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05840" y="40187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3867912"/>
            <a:ext cx="2743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Income &amp; Spending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4389120" y="3867912"/>
            <a:ext cx="67665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positive relationship exists between income and total spending — as income rises, spending rises.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9286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PREDICTION PATH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77240" y="5248656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6C5CE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524865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Response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3520440" y="5248656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023360" y="5248656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6C5CE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023360" y="524865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Spending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766560" y="5248656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7269480" y="5248656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6C5CE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269480" y="524865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82880"/>
            <a:ext cx="2377440" cy="2377440"/>
          </a:xfrm>
          <a:prstGeom prst="ellipse">
            <a:avLst/>
          </a:prstGeom>
          <a:solidFill>
            <a:srgbClr val="6C5CE7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927080" y="502920"/>
            <a:ext cx="1051560" cy="1051560"/>
          </a:xfrm>
          <a:prstGeom prst="ellipse">
            <a:avLst/>
          </a:prstGeom>
          <a:solidFill>
            <a:srgbClr val="6C5CE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104120" y="1508760"/>
            <a:ext cx="502920" cy="50292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0" y="4480560"/>
            <a:ext cx="2377440" cy="2377440"/>
          </a:xfrm>
          <a:prstGeom prst="ellipse">
            <a:avLst/>
          </a:prstGeom>
          <a:solidFill>
            <a:srgbClr val="6C5CE7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841480" y="5166360"/>
            <a:ext cx="1051560" cy="1051560"/>
          </a:xfrm>
          <a:prstGeom prst="ellipse">
            <a:avLst/>
          </a:prstGeom>
          <a:solidFill>
            <a:srgbClr val="6C5CE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6172200"/>
            <a:ext cx="502920" cy="50292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914776"/>
            <a:ext cx="10634472" cy="102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KHUSH RAHO </a:t>
            </a: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😊</a:t>
            </a:r>
            <a:endParaRPr lang="en-US" sz="60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1164</Words>
  <Application>Microsoft Macintosh PowerPoint</Application>
  <PresentationFormat>Widescreen</PresentationFormat>
  <Paragraphs>170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Berlin Sans FB Demi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shrejalmishra99@gmail.com</cp:lastModifiedBy>
  <cp:revision>4</cp:revision>
  <dcterms:created xsi:type="dcterms:W3CDTF">2026-09-07T12:33:20Z</dcterms:created>
  <dcterms:modified xsi:type="dcterms:W3CDTF">2026-10-05T11:36:17Z</dcterms:modified>
</cp:coreProperties>
</file>